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45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pela IDE: a CatalyseR é o coração do ecossistema. EAPA é o guarda-chuva temático.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convite concreto: três caminhos de contribuição.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76" y="548640"/>
            <a:ext cx="4572000" cy="3429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20624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2B6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Estatística Aplicada à Pesca e Aquicultura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E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mouse ao código — uma IDE no centro do ensino.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63550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FEPESCA · IECOS · UFPA — Campus Bragança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7571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estatística aplicada à pesca esbarra em três obstáculos recorrentes: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777240" cy="77724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20766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3794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Barreira técnica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91640" y="225856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trava no código antes de chegar à estatística que importa.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3200400"/>
            <a:ext cx="777240" cy="7772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3402482"/>
            <a:ext cx="373075" cy="373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16382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fragmentados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691640" y="358444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Ferramenta, dados e material desenvolvidos sem conversa entre si.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4526280"/>
            <a:ext cx="777240" cy="77724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" y="472836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48970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genéricos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691640" y="491032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conexão com a realidade da pesca costeira amazônica.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955280" y="1874520"/>
            <a:ext cx="3566160" cy="3520440"/>
          </a:xfrm>
          <a:prstGeom prst="roundRect">
            <a:avLst>
              <a:gd name="adj" fmla="val 3117"/>
            </a:avLst>
          </a:prstGeom>
          <a:solidFill>
            <a:srgbClr val="FBEAE5"/>
          </a:solidFill>
          <a:ln/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0" y="2194560"/>
            <a:ext cx="731520" cy="7315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795" y="238475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de não integrar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229600" y="352044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a cada correção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que envelhece rápido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que divergem em silêncio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 no centro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62B6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CatalyseR é a fonte da verdade das análises.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731520" cy="73152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" y="26590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4505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menu é o catálogo de análises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645920" y="2852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interface define o currículo: preparar, descrever, regredir, testar, multivariada…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3611880"/>
            <a:ext cx="731520" cy="73152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380207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5935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livro espelha a IDE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645920" y="3995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análises do livro são exatamente as análises da CatalyseR.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4754880"/>
            <a:ext cx="731520" cy="73152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" y="494507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7365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EAPADados fornece os dados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645920" y="51389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pacote de dados de contexto, consumido como qualquer pacote 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CatalyseR em ação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visual no mouse — e a ponte para o 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60520" y="1783080"/>
            <a:ext cx="74980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pic>
        <p:nvPicPr>
          <p:cNvPr id="5" name="Image 0" descr="/home/claude/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74520"/>
            <a:ext cx="73152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658368" cy="658368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2137136"/>
            <a:ext cx="316017" cy="3160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91109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análises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41732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superior com todo o percurso estatístico.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291840"/>
            <a:ext cx="658368" cy="658368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56" y="3463016"/>
            <a:ext cx="316017" cy="3160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23697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no mouse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141732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 X, retas por grupo, resíduos e Q-Q plot.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" y="4617720"/>
            <a:ext cx="658368" cy="658368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256" y="4788896"/>
            <a:ext cx="316017" cy="31601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56285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Exportar Projeto R (.zip)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1417320" y="5074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um relatório .qmd para completar no RStudio.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mouse ao código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CatalyseR não esconde o R — ela conduz o aluno até ele.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26947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Analisa no mouse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os dados e ajusta o modelo pela interface, sem escrever código.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61188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3484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2468880"/>
            <a:ext cx="868680" cy="86868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737" y="2694737"/>
            <a:ext cx="416966" cy="4169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Exporta o projeto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754880" y="39776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um Projeto R (.zip) com dados e relatório .qmd já estruturados.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361188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29600" y="2148840"/>
            <a:ext cx="3383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468880"/>
            <a:ext cx="868680" cy="86868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497" y="2694737"/>
            <a:ext cx="416966" cy="41696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4964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Completa no RStudio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8549640" y="39776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Lê, edita e aprofunda o código — aprendendo R na prática.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de resultados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 a análise, a CatalyseR gera um relatório Word (.docx) pronto para editar.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777240" cy="77724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20766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3794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Narrativa automática em português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91640" y="225856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diagnóstico redigidos formalmente — p-valor, IC e pressupostos.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3200400"/>
            <a:ext cx="777240" cy="77724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3402482"/>
            <a:ext cx="373075" cy="373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16382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profissionais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1691640" y="358444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Geradas com flextable no tema Ocean Gradient — cabeçalho navy, estilo booktabs.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4526280"/>
            <a:ext cx="777240" cy="77724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882" y="4728362"/>
            <a:ext cx="373075" cy="373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48970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Editável e pronto para publicar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691640" y="491032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revisa e leva direto para artigo, dissertação ou tese.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7955280" y="1874520"/>
            <a:ext cx="3566160" cy="3520440"/>
          </a:xfrm>
          <a:prstGeom prst="roundRect">
            <a:avLst>
              <a:gd name="adj" fmla="val 3117"/>
            </a:avLst>
          </a:prstGeom>
          <a:solidFill>
            <a:srgbClr val="EAF2F4"/>
          </a:solidFill>
          <a:ln/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0" y="2194560"/>
            <a:ext cx="731520" cy="731520"/>
          </a:xfrm>
          <a:prstGeom prst="ellipse">
            <a:avLst/>
          </a:prstGeom>
          <a:solidFill>
            <a:srgbClr val="0F3B5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795" y="238475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na v1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229600" y="3520440"/>
            <a:ext cx="30632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descritiva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t (uma amostra, independentes, pareadas)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 simples (coeficientes, R², resíduos)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bastidores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clique ao documento, em três passos — com o mesmo motor da análise na tela.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868680" cy="86868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26947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Você configura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CatalyseR: escolhe as variáveis e o que entra no relatório.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361188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34840" y="21488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2468880"/>
            <a:ext cx="868680" cy="86868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0737" y="2694737"/>
            <a:ext cx="416966" cy="41696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A IDE monta o projeto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754880" y="397764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o template .qmd, o reference.docx, os dados (.rda) e os scripts.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48" y="361188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229600" y="214884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468880"/>
            <a:ext cx="868680" cy="86868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5497" y="2694737"/>
            <a:ext cx="416966" cy="41696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49640" y="35204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Renderiza e baixa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8549640" y="397764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 render → .docx no tema Ocean Gradient, pronto para baixar.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640080" y="5440680"/>
            <a:ext cx="10927080" cy="566928"/>
          </a:xfrm>
          <a:prstGeom prst="roundRect">
            <a:avLst>
              <a:gd name="adj" fmla="val 12903"/>
            </a:avLst>
          </a:prstGeom>
          <a:solidFill>
            <a:srgbClr val="EAF2F4"/>
          </a:solidFill>
          <a:ln/>
        </p:spPr>
      </p:sp>
      <p:sp>
        <p:nvSpPr>
          <p:cNvPr id="22" name="Shape 15"/>
          <p:cNvSpPr/>
          <p:nvPr/>
        </p:nvSpPr>
        <p:spPr>
          <a:xfrm>
            <a:off x="777240" y="5504688"/>
            <a:ext cx="438912" cy="438912"/>
          </a:xfrm>
          <a:prstGeom prst="ellipse">
            <a:avLst/>
          </a:prstGeom>
          <a:solidFill>
            <a:srgbClr val="0F3B5F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357" y="5618805"/>
            <a:ext cx="210678" cy="21067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71600" y="5532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motor estatístico roda a análise na tela e gera o relatório — consistência por construção.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três se conectam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CatalyseR define as análises e gera as saídas. O livro espelha. O EAPADados fornece os dados.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22402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62B6B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432304"/>
            <a:ext cx="621792" cy="621792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6" y="259397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505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EAPADados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7797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contexto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0" y="2743200"/>
            <a:ext cx="1600200" cy="0"/>
          </a:xfrm>
          <a:prstGeom prst="line">
            <a:avLst/>
          </a:prstGeom>
          <a:noFill/>
          <a:ln w="25400">
            <a:solidFill>
              <a:srgbClr val="0F3B5F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926080" y="24323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26280" y="2194560"/>
            <a:ext cx="3108960" cy="1188720"/>
          </a:xfrm>
          <a:prstGeom prst="roundRect">
            <a:avLst>
              <a:gd name="adj" fmla="val 7692"/>
            </a:avLst>
          </a:prstGeom>
          <a:solidFill>
            <a:srgbClr val="2E7D8F"/>
          </a:solidFill>
          <a:ln/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23957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CatalyseR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526280" y="282549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C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da verdade · análises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12080" y="3383280"/>
            <a:ext cx="0" cy="1143000"/>
          </a:xfrm>
          <a:prstGeom prst="line">
            <a:avLst/>
          </a:prstGeom>
          <a:noFill/>
          <a:ln w="25400">
            <a:solidFill>
              <a:srgbClr val="0F3B5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80760" y="3383280"/>
            <a:ext cx="0" cy="1143000"/>
          </a:xfrm>
          <a:prstGeom prst="line">
            <a:avLst/>
          </a:prstGeom>
          <a:noFill/>
          <a:ln w="38100">
            <a:solidFill>
              <a:srgbClr val="E89B3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949440" y="3383280"/>
            <a:ext cx="2834640" cy="1143000"/>
          </a:xfrm>
          <a:prstGeom prst="line">
            <a:avLst/>
          </a:prstGeom>
          <a:noFill/>
          <a:ln w="25400">
            <a:solidFill>
              <a:srgbClr val="0F3B5F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2926080" y="36758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3767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78040" y="4069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94360" y="45720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F3B5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4773168"/>
            <a:ext cx="640080" cy="64008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939589"/>
            <a:ext cx="307238" cy="30723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600200" y="47914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 R do aluno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600200" y="5138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.qmd no RStudio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0" y="45720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BEFDD"/>
          </a:solidFill>
          <a:ln w="28575">
            <a:solidFill>
              <a:srgbClr val="E89B3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00600" y="4773168"/>
            <a:ext cx="640080" cy="64008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021" y="4939589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577840" y="47914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científico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577840" y="5138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(.docx) pronto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549640" y="45720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F3B5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778240" y="4773168"/>
            <a:ext cx="640080" cy="64008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4661" y="4939589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555480" y="47914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 (Quarto)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555480" y="51389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análises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EAPADados — dados de contexto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pacote R de dados aplicados, que dá realidade aos exemplos em todo o ecossistema.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423160"/>
            <a:ext cx="822960" cy="82296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26371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Pesca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Capturas, biometria e esforço.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2900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21608" y="2423160"/>
            <a:ext cx="822960" cy="82296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578" y="26371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Bioecologia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70332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Pesqueira e geral.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1792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10528" y="2423160"/>
            <a:ext cx="822960" cy="82296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498" y="263713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Aquicultura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9224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 e qualidade de água.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9006840" y="210312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99448" y="2423160"/>
            <a:ext cx="822960" cy="82296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3418" y="263713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 do pescado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281160" y="393192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e qualidade.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 pela IDE, pelos projetos exportados e pelo livro — com data(...) ou EAPADados::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DE REFERÊNCIA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 Quarto — o espelho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572768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livro de Estatística Aplicada à Pesca e Aquicultura documenta exatamente as análises da CatalyseR — reprodutível de ponta a ponta.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658368" cy="658368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76" y="28686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6609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Sempre coerente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54480" y="302666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análises da IDE: livro e ferramenta nunca divergem.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3749040"/>
            <a:ext cx="658368" cy="658368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76" y="3920216"/>
            <a:ext cx="316017" cy="3160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7124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vivos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407822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executável sobre os dados do EAPADados.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85800" y="4800600"/>
            <a:ext cx="658368" cy="658368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6" y="4971776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7640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Aberto e acessível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554480" y="51297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Publicável na web, leve para o aluno acessar no celular.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58368" y="5623560"/>
            <a:ext cx="5532120" cy="548640"/>
          </a:xfrm>
          <a:prstGeom prst="roundRect">
            <a:avLst>
              <a:gd name="adj" fmla="val 13333"/>
            </a:avLst>
          </a:prstGeom>
          <a:solidFill>
            <a:srgbClr val="EAF2F4"/>
          </a:solidFill>
          <a:ln/>
        </p:spPr>
      </p:sp>
      <p:sp>
        <p:nvSpPr>
          <p:cNvPr id="18" name="Shape 13"/>
          <p:cNvSpPr/>
          <p:nvPr/>
        </p:nvSpPr>
        <p:spPr>
          <a:xfrm>
            <a:off x="777240" y="5687568"/>
            <a:ext cx="420624" cy="420624"/>
          </a:xfrm>
          <a:prstGeom prst="ellipse">
            <a:avLst/>
          </a:prstGeom>
          <a:solidFill>
            <a:srgbClr val="0F3B5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602" y="5796930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7058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no ar — github.com/astuciasnor/eapa + GitHub Pages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406640" y="182880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0F3B5F"/>
          </a:solidFill>
          <a:ln/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68096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ESPELHA A CatalyseR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80960" y="251460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```{r}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library(EAPADados)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data(biometria)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mesma regressão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 IDE CatalyseR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lm(peso_g ~ comp_cm,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data = biometria)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CE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Meta: a primeira edição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281160" y="548640"/>
            <a:ext cx="2286000" cy="502920"/>
          </a:xfrm>
          <a:prstGeom prst="roundRect">
            <a:avLst>
              <a:gd name="adj" fmla="val 49091"/>
            </a:avLst>
          </a:prstGeom>
          <a:solidFill>
            <a:srgbClr val="E89B3C"/>
          </a:solidFill>
          <a:ln/>
        </p:spPr>
      </p:sp>
      <p:sp>
        <p:nvSpPr>
          <p:cNvPr id="4" name="Text 2"/>
          <p:cNvSpPr/>
          <p:nvPr/>
        </p:nvSpPr>
        <p:spPr>
          <a:xfrm>
            <a:off x="9281160" y="548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· SET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análises que já domino e que já estão na CatalyseR — fácil de transitar, mas já um portfólio sólido.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4747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377440"/>
            <a:ext cx="868680" cy="86868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977" y="260329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4015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Livro EAPA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60120" y="38221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edição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42062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Capítulos com as análises já consolidadas.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89120" y="2057400"/>
            <a:ext cx="34747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2377440"/>
            <a:ext cx="868680" cy="86868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017" y="260329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34015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CatalyseR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709160" y="38221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709160" y="42062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análises dominadas, disponíveis no menu.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138160" y="2057400"/>
            <a:ext cx="34747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BE6EA"/>
            </a:solidFill>
            <a:prstDash val="solid"/>
          </a:ln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58200" y="2377440"/>
            <a:ext cx="868680" cy="86868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057" y="260329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34015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EAPADados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8458200" y="382219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1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58200" y="420624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de contexto documentados por domínio.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40080" y="5212080"/>
            <a:ext cx="10927080" cy="566928"/>
          </a:xfrm>
          <a:prstGeom prst="roundRect">
            <a:avLst>
              <a:gd name="adj" fmla="val 12903"/>
            </a:avLst>
          </a:prstGeom>
          <a:solidFill>
            <a:srgbClr val="FBEFDD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5276088"/>
            <a:ext cx="438912" cy="438912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57" y="5390205"/>
            <a:ext cx="210678" cy="21067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5303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enxuto e exequível: entregar primeiro o que já está pronto e dominado.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Diferencial pedagógico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2B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ecossistema ensina melhor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B4F7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58568"/>
            <a:ext cx="777240" cy="77724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" y="246065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58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mouse ao código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74520" y="271576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aluno começa sem código e termina escrevendo R, sem susto.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B4F77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258568"/>
            <a:ext cx="777240" cy="777240"/>
          </a:xfrm>
          <a:prstGeom prst="ellipse">
            <a:avLst/>
          </a:prstGeom>
          <a:solidFill>
            <a:srgbClr val="62B6B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46065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58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amazônico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06640" y="271576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com dados reais da pesca e aquicultura regional.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B4F7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407408"/>
            <a:ext cx="777240" cy="77724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482" y="460949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074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Reprodutível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874520" y="486460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análise visual ao relatório, todo o caminho é rastreável.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1B4F77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407408"/>
            <a:ext cx="777240" cy="77724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60949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4074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Aberto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406640" y="4864608"/>
            <a:ext cx="3794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compartilháveis, pensados para uso e contribuição.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ganha quem colabora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EAF2F4"/>
          </a:solidFill>
          <a:ln/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822960" cy="82296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90" y="20884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05840" y="29260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guiada pela própria ferramenta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contextualizados à pesca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 e IDE sempre alinhados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tempo com setup, mais com ensino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BEFDD"/>
          </a:solidFill>
          <a:ln/>
          <a:effectLst>
            <a:outerShdw blurRad="114300" dist="38100" dir="5400000" algn="bl" rotWithShape="0">
              <a:srgbClr val="0F3B5F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210" y="208849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Alunos de pós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6537960" y="292608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sem travar no código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R pronto para completar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reprodutível do dado ao artigo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R fazendo, no contexto real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03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960120" cy="960120"/>
          </a:xfrm>
          <a:prstGeom prst="ellipse">
            <a:avLst/>
          </a:prstGeom>
          <a:solidFill>
            <a:srgbClr val="E89B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" y="152979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231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construir juntos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58368" y="3337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ecossistema aberto cresce com a comunidade. Há espaço para contribuir com dados, exemplos, capítulos e revisão pedagógica.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85800" y="4526280"/>
            <a:ext cx="411480" cy="41148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85" y="4633265"/>
            <a:ext cx="197510" cy="197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Contribuir com dados e exemplos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685800" y="5093208"/>
            <a:ext cx="411480" cy="41148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85" y="5200193"/>
            <a:ext cx="197510" cy="1975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50932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capítulos do livro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685800" y="5660136"/>
            <a:ext cx="411480" cy="411480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785" y="5767121"/>
            <a:ext cx="197510" cy="1975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566013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 CatalyseR com sua turma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658368" y="6355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FEPESCA · IECOS · UFPA — Campus Bragança</a:t>
            </a:r>
            <a:endParaRPr lang="en-US" sz="1600" dirty="0"/>
          </a:p>
        </p:txBody>
      </p:sp>
      <p:pic>
        <p:nvPicPr>
          <p:cNvPr id="16" name="Image 4" descr="/home/claude/logo_ra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2160270"/>
            <a:ext cx="3383280" cy="2537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1031</Words>
  <Application>Microsoft Office PowerPoint</Application>
  <PresentationFormat>Widescreen</PresentationFormat>
  <Paragraphs>163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CatalyseR — Ecossistema EAPA</dc:title>
  <dc:subject>PptxGenJS Presentation</dc:subject>
  <dc:creator>Evaldo — FEPESCA/IECOS/UFPA</dc:creator>
  <cp:lastModifiedBy>evaldoms</cp:lastModifiedBy>
  <cp:revision>3</cp:revision>
  <dcterms:created xsi:type="dcterms:W3CDTF">2026-06-12T16:59:02Z</dcterms:created>
  <dcterms:modified xsi:type="dcterms:W3CDTF">2026-06-17T16:54:14Z</dcterms:modified>
</cp:coreProperties>
</file>